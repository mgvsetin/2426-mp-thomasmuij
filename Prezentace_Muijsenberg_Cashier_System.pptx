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39F70-8921-4BD5-89DD-76F68DDBA63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D6F71-DA96-4D8C-B8CF-DFC01D72DB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99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D6F71-DA96-4D8C-B8CF-DFC01D72DB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25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D6F71-DA96-4D8C-B8CF-DFC01D72DB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073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5D6F71-DA96-4D8C-B8CF-DFC01D72DB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0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5247060"/>
            <a:ext cx="12188952" cy="1610940"/>
          </a:xfrm>
          <a:prstGeom prst="rect">
            <a:avLst/>
          </a:prstGeom>
          <a:solidFill>
            <a:srgbClr val="0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5173980"/>
            <a:ext cx="12188952" cy="635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5216870"/>
            <a:ext cx="12188952" cy="254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182782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4600" b="1" noProof="0" dirty="0">
                <a:solidFill>
                  <a:srgbClr val="FFFFFF"/>
                </a:solidFill>
                <a:latin typeface="Calibri"/>
              </a:rPr>
              <a:t>Muijsenberg </a:t>
            </a:r>
            <a:r>
              <a:rPr lang="cs-CZ" sz="4600" b="1" noProof="0" dirty="0" err="1">
                <a:solidFill>
                  <a:srgbClr val="FFFFFF"/>
                </a:solidFill>
                <a:latin typeface="Calibri"/>
              </a:rPr>
              <a:t>Cashier</a:t>
            </a:r>
            <a:r>
              <a:rPr lang="cs-CZ" sz="4600" b="1" noProof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cs-CZ" sz="4600" b="1" noProof="0" dirty="0" err="1">
                <a:solidFill>
                  <a:srgbClr val="FFFFFF"/>
                </a:solidFill>
                <a:latin typeface="Calibri"/>
              </a:rPr>
              <a:t>System</a:t>
            </a:r>
            <a:endParaRPr lang="cs-CZ" sz="46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3161686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2600" b="0" noProof="0" dirty="0">
                <a:solidFill>
                  <a:srgbClr val="A8C4E8"/>
                </a:solidFill>
                <a:latin typeface="Calibri"/>
              </a:rPr>
              <a:t>Bezhotovostní platební systém pro akce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3834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800" b="0" noProof="0" dirty="0">
                <a:solidFill>
                  <a:srgbClr val="C8DAF0"/>
                </a:solidFill>
                <a:latin typeface="Calibri"/>
              </a:rPr>
              <a:t>💳  RFID/NFC karty      🏪  Stánky prodejců      📊  Statistiky v reálném čase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84418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500" b="0" noProof="0" dirty="0">
                <a:solidFill>
                  <a:srgbClr val="7090BB"/>
                </a:solidFill>
                <a:latin typeface="Calibri"/>
              </a:rPr>
              <a:t>Thomas Muijsenberg  ·  Masarykovo gymnázium, SZŠ a VOŠ zdravotnická Vsetín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Motivace a cíl práce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Proč vznikl tento systém?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9496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14681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❌  Problémy s hotovostí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539496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12064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Riziko krádeže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Zdlouhavé platby u každého stánku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Složité vyúčtování po akci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Nepřehledné tržby jednotlivých stánků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Lidský faktor při výpočtech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417320"/>
            <a:ext cx="5760720" cy="4572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172200" y="1468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✅  Řešení – </a:t>
            </a:r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cashless</a:t>
            </a:r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 systém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74520"/>
            <a:ext cx="576072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217920" y="1965960"/>
            <a:ext cx="548640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Zákazník si dobije kredit na RFID/NFC kartě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Platba (bezhotovostně) u prodejního stánku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Všechny transakce zaznamenány v databázi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Real-</a:t>
            </a:r>
            <a:r>
              <a:rPr lang="cs-CZ" sz="1500" noProof="0" dirty="0" err="1">
                <a:solidFill>
                  <a:srgbClr val="1C1C2E"/>
                </a:solidFill>
                <a:latin typeface="Calibri"/>
              </a:rPr>
              <a:t>time</a:t>
            </a: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 statistiky a přehled tržeb</a:t>
            </a:r>
          </a:p>
          <a:p>
            <a:pPr>
              <a:spcBef>
                <a:spcPts val="400"/>
              </a:spcBef>
            </a:pPr>
            <a:r>
              <a:rPr lang="cs-CZ" sz="1500" noProof="0" dirty="0">
                <a:solidFill>
                  <a:srgbClr val="1C1C2E"/>
                </a:solidFill>
                <a:latin typeface="Calibri"/>
              </a:rPr>
              <a:t>•  Snadné vrácení peněz a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Jak systém funguje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Průběh typické akce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1325880" y="1325880"/>
            <a:ext cx="731520" cy="7315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325880" y="1325880"/>
            <a:ext cx="731520" cy="59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</a:pPr>
            <a:r>
              <a:rPr lang="cs-CZ" sz="2600" b="1" noProof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Rectangle 9"/>
          <p:cNvSpPr/>
          <p:nvPr/>
        </p:nvSpPr>
        <p:spPr>
          <a:xfrm>
            <a:off x="365760" y="2194560"/>
            <a:ext cx="2651760" cy="50292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700" b="1" noProof="0" dirty="0">
                <a:solidFill>
                  <a:srgbClr val="FFFFFF"/>
                </a:solidFill>
                <a:latin typeface="Calibri"/>
              </a:rPr>
              <a:t>Správa eventu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400" b="0" noProof="0" dirty="0">
                <a:solidFill>
                  <a:srgbClr val="1C1C2E"/>
                </a:solidFill>
                <a:latin typeface="Calibri"/>
              </a:rPr>
              <a:t>Administrátor / manager vytvoří akci,
přidá stánky, produkty a zaměstnance.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2000" b="0" noProof="0" dirty="0">
                <a:solidFill>
                  <a:srgbClr val="1D6FD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325880"/>
            <a:ext cx="731520" cy="73152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4206240" y="1325880"/>
            <a:ext cx="731520" cy="59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</a:pPr>
            <a:r>
              <a:rPr lang="cs-CZ" sz="2600" b="1" noProof="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27832" y="219456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246120" y="2194560"/>
            <a:ext cx="2651760" cy="50292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3337560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700" b="1" noProof="0" dirty="0">
                <a:solidFill>
                  <a:srgbClr val="FFFFFF"/>
                </a:solidFill>
                <a:latin typeface="Calibri"/>
              </a:rPr>
              <a:t>Dobití kreditu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788920"/>
            <a:ext cx="2377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400" b="0" noProof="0" dirty="0">
                <a:solidFill>
                  <a:srgbClr val="1C1C2E"/>
                </a:solidFill>
                <a:latin typeface="Calibri"/>
              </a:rPr>
              <a:t>Zákazník přijde k pokladně (</a:t>
            </a:r>
            <a:r>
              <a:rPr lang="cs-CZ" sz="1400" b="0" noProof="0" dirty="0" err="1">
                <a:solidFill>
                  <a:srgbClr val="1C1C2E"/>
                </a:solidFill>
                <a:latin typeface="Calibri"/>
              </a:rPr>
              <a:t>cashier</a:t>
            </a:r>
            <a:r>
              <a:rPr lang="cs-CZ" sz="1400" b="0" noProof="0" dirty="0">
                <a:solidFill>
                  <a:srgbClr val="1C1C2E"/>
                </a:solidFill>
                <a:latin typeface="Calibri"/>
              </a:rPr>
              <a:t>).
Pokladní mu načte RFID</a:t>
            </a:r>
            <a:r>
              <a:rPr lang="en-US" sz="1400" b="0" noProof="0" dirty="0">
                <a:solidFill>
                  <a:srgbClr val="1C1C2E"/>
                </a:solidFill>
                <a:latin typeface="Calibri"/>
              </a:rPr>
              <a:t>/NFC</a:t>
            </a:r>
            <a:r>
              <a:rPr lang="cs-CZ" sz="1400" b="0" noProof="0" dirty="0">
                <a:solidFill>
                  <a:srgbClr val="1C1C2E"/>
                </a:solidFill>
                <a:latin typeface="Calibri"/>
              </a:rPr>
              <a:t> kartu a dobije kredit.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2000" b="0" noProof="0" dirty="0">
                <a:solidFill>
                  <a:srgbClr val="1D6FD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1325880"/>
            <a:ext cx="731520" cy="73152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7086600" y="1325880"/>
            <a:ext cx="731520" cy="59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</a:pPr>
            <a:r>
              <a:rPr lang="cs-CZ" sz="2600" b="1" noProof="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19456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2651760" cy="50292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6217920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700" b="1" noProof="0" dirty="0">
                <a:solidFill>
                  <a:srgbClr val="FFFFFF"/>
                </a:solidFill>
                <a:latin typeface="Calibri"/>
              </a:rPr>
              <a:t>Nákup u stánku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88920"/>
            <a:ext cx="2377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400" b="0" noProof="0" dirty="0">
                <a:solidFill>
                  <a:srgbClr val="1C1C2E"/>
                </a:solidFill>
                <a:latin typeface="Calibri"/>
              </a:rPr>
              <a:t>Zákazník přiloží kartu ke čtečce u prodejce.
Prodejce vybere produkty → platba odečtena.</a:t>
            </a:r>
            <a:endParaRPr lang="en-US" sz="1400" b="0" noProof="0" dirty="0">
              <a:solidFill>
                <a:srgbClr val="1C1C2E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05672" y="292608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2000" b="0" noProof="0" dirty="0">
                <a:solidFill>
                  <a:srgbClr val="1D6FD8"/>
                </a:solidFill>
                <a:latin typeface="Calibr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325880"/>
            <a:ext cx="731520" cy="731520"/>
          </a:xfrm>
          <a:prstGeom prst="rect">
            <a:avLst/>
          </a:prstGeom>
          <a:solidFill>
            <a:srgbClr val="E87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9966960" y="1325880"/>
            <a:ext cx="731520" cy="593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00"/>
              </a:lnSpc>
            </a:pPr>
            <a:r>
              <a:rPr lang="cs-CZ" sz="2600" b="1" noProof="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2194560"/>
            <a:ext cx="265176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1" name="Rectangle 30"/>
          <p:cNvSpPr/>
          <p:nvPr/>
        </p:nvSpPr>
        <p:spPr>
          <a:xfrm>
            <a:off x="9006840" y="2194560"/>
            <a:ext cx="2651760" cy="502920"/>
          </a:xfrm>
          <a:prstGeom prst="rect">
            <a:avLst/>
          </a:prstGeom>
          <a:solidFill>
            <a:srgbClr val="E87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9098280" y="2212848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cs-CZ" sz="1700" b="1" noProof="0" dirty="0">
                <a:solidFill>
                  <a:srgbClr val="FFFFFF"/>
                </a:solidFill>
                <a:latin typeface="Calibri"/>
              </a:rPr>
              <a:t>Vrácení / audit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788920"/>
            <a:ext cx="2377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400" b="0" noProof="0" dirty="0">
                <a:solidFill>
                  <a:srgbClr val="1C1C2E"/>
                </a:solidFill>
                <a:latin typeface="Calibri"/>
              </a:rPr>
              <a:t>Do 5 minut lze transakci stornovat.
Po akci jsou k dispozici detailní statistiky.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Technologický </a:t>
            </a:r>
            <a:r>
              <a:rPr lang="cs-CZ" sz="3000" b="1" noProof="0" dirty="0" err="1">
                <a:solidFill>
                  <a:srgbClr val="FFFFFF"/>
                </a:solidFill>
                <a:latin typeface="Calibri"/>
              </a:rPr>
              <a:t>stack</a:t>
            </a:r>
            <a:endParaRPr lang="cs-CZ" sz="30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Použité technologie a nástroje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1468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Backend</a:t>
            </a:r>
            <a:endParaRPr lang="cs-CZ" sz="20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38328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Python  +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Flask</a:t>
            </a:r>
            <a:endParaRPr lang="cs-CZ" sz="14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PostgreSQL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(relační DB)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psycopg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3  +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connection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pool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APScheduler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(background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jobs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Argon2 (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hashování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hesel)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Flask-Limiter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(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rate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limiting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657600" cy="4572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07408" y="1468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Frontend</a:t>
            </a:r>
            <a:endParaRPr lang="cs-CZ" sz="20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70248" y="187452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453128" y="1965960"/>
            <a:ext cx="338328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Vanilla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JavaScript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Jinja2 šablony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Fetch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API (REST komunikace)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Web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Serial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API (USB čtečka)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417320"/>
            <a:ext cx="3657600" cy="4572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311896" y="1468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Testování &amp; nástroje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874520"/>
            <a:ext cx="36576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357616" y="1965960"/>
            <a:ext cx="338328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pytest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 +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pytest-cov</a:t>
            </a:r>
            <a:endParaRPr lang="cs-CZ" sz="14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Git (správa verzí)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20+ testovacích modulů</a:t>
            </a:r>
          </a:p>
          <a:p>
            <a:pPr>
              <a:spcBef>
                <a:spcPts val="400"/>
              </a:spcBef>
            </a:pPr>
            <a:r>
              <a:rPr lang="cs-CZ" sz="1400" dirty="0">
                <a:solidFill>
                  <a:srgbClr val="1C1C2E"/>
                </a:solidFill>
              </a:rPr>
              <a:t>•  Unit testy</a:t>
            </a:r>
            <a:endParaRPr lang="cs-CZ" sz="14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Integrační testy s testovací databází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Databáze a bezpečnost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 err="1">
                <a:solidFill>
                  <a:srgbClr val="A8C4E8"/>
                </a:solidFill>
                <a:latin typeface="Calibri"/>
              </a:rPr>
              <a:t>PostgreSQL</a:t>
            </a:r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 · ACID · Bezpečnostní opatření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0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1468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🗄️  Databázový návrh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548640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21208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17 tabulek s UUID primárními klíči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PL/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pgSQL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triggery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(normalizace, kontroly, automatické doplňování)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Soft-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delete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– logické mazání s možností obnovy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Row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-level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locking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pro souběžné platby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Advisory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locks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pro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undo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/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redo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/paste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Idempotentní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API – ochrana proti duplicitám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Automatické zálohy (výchozí: každých 30 min, max 48)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5669280" cy="457200"/>
          </a:xfrm>
          <a:prstGeom prst="rect">
            <a:avLst/>
          </a:prstGeom>
          <a:solidFill>
            <a:srgbClr val="5B2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217920" y="1468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🔒  Bezpečnostní opatření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20"/>
            <a:ext cx="566928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394960" cy="164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Argon2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hashování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hesel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HttpOnly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+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SameSite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cookies (anti-CSRF)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Parametrizované SQL dotazy (anti-SQL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injection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Rate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limiting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: 200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req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/min na IP</a:t>
            </a:r>
            <a:r>
              <a:rPr lang="en-US" sz="1400" noProof="0" dirty="0">
                <a:solidFill>
                  <a:srgbClr val="1C1C2E"/>
                </a:solidFill>
                <a:latin typeface="Calibri"/>
              </a:rPr>
              <a:t> +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brute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force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protection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na login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Validace e-mailu, telefonu, obrázků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Úplný audit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trail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všech transakcí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Klíčové funkce systému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Co systém umí – přehled hlavních vlastností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1513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💳  Platby &amp; peněženky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338328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ACID transakce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Storno do 5 minut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Administrátor a manager – možnost storno i později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Kompletní historie transakcí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24528" y="1463040"/>
            <a:ext cx="3657600" cy="4572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361688" y="1513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🔄  </a:t>
            </a:r>
            <a:r>
              <a:rPr lang="cs-CZ" sz="1600" b="1" noProof="0" dirty="0" err="1">
                <a:solidFill>
                  <a:srgbClr val="FFFFFF"/>
                </a:solidFill>
                <a:latin typeface="Calibri"/>
              </a:rPr>
              <a:t>Undo</a:t>
            </a:r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 / </a:t>
            </a:r>
            <a:r>
              <a:rPr lang="cs-CZ" sz="1600" b="1" noProof="0" dirty="0" err="1">
                <a:solidFill>
                  <a:srgbClr val="FFFFFF"/>
                </a:solidFill>
                <a:latin typeface="Calibri"/>
              </a:rPr>
              <a:t>Redo</a:t>
            </a:r>
            <a:endParaRPr lang="cs-CZ" sz="1600" b="1" noProof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224528" y="19202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407408" y="2011680"/>
            <a:ext cx="3383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Operace zpět</a:t>
            </a:r>
            <a:r>
              <a:rPr lang="en-US" sz="1300" noProof="0" dirty="0">
                <a:solidFill>
                  <a:srgbClr val="1C1C2E"/>
                </a:solidFill>
                <a:latin typeface="Calibri"/>
              </a:rPr>
              <a:t>/</a:t>
            </a: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vpřed pro správu akcí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3296" y="1463040"/>
            <a:ext cx="3657600" cy="4572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220456" y="1513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📋  Kopírování eventů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92024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266176" y="20116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Klon celé akce včetně stánků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Přenáší produkty, kategorie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Přenáší přiřazené zaměstnance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3657600" cy="457200"/>
          </a:xfrm>
          <a:prstGeom prst="rect">
            <a:avLst/>
          </a:prstGeom>
          <a:solidFill>
            <a:srgbClr val="E87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02920" y="3937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📊  Statistiky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4434840"/>
            <a:ext cx="338328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Real-</a:t>
            </a:r>
            <a:r>
              <a:rPr lang="cs-CZ" sz="1300" noProof="0" dirty="0" err="1">
                <a:solidFill>
                  <a:srgbClr val="1C1C2E"/>
                </a:solidFill>
                <a:latin typeface="Calibri"/>
              </a:rPr>
              <a:t>time</a:t>
            </a: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 tržby stánků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Grafy (Chart.js)</a:t>
            </a:r>
            <a:endParaRPr lang="en-US" sz="13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300" dirty="0">
                <a:solidFill>
                  <a:srgbClr val="1C1C2E"/>
                </a:solidFill>
              </a:rPr>
              <a:t>•  </a:t>
            </a:r>
            <a:r>
              <a:rPr lang="en-US" sz="1300" dirty="0" err="1">
                <a:solidFill>
                  <a:srgbClr val="1C1C2E"/>
                </a:solidFill>
              </a:rPr>
              <a:t>Exporty</a:t>
            </a:r>
            <a:r>
              <a:rPr lang="en-US" sz="1300" dirty="0">
                <a:solidFill>
                  <a:srgbClr val="1C1C2E"/>
                </a:solidFill>
              </a:rPr>
              <a:t> do csv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3886200"/>
            <a:ext cx="3657600" cy="457200"/>
          </a:xfrm>
          <a:prstGeom prst="rect">
            <a:avLst/>
          </a:prstGeom>
          <a:solidFill>
            <a:srgbClr val="5B2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4361688" y="3937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👥  Role &amp; oprávnění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43434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4407408" y="4434840"/>
            <a:ext cx="338328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Admin → Manager → </a:t>
            </a:r>
            <a:r>
              <a:rPr lang="cs-CZ" sz="1300" noProof="0" dirty="0" err="1">
                <a:solidFill>
                  <a:srgbClr val="1C1C2E"/>
                </a:solidFill>
                <a:latin typeface="Calibri"/>
              </a:rPr>
              <a:t>Cashier</a:t>
            </a:r>
            <a:r>
              <a:rPr lang="en-US" sz="1300" noProof="0" dirty="0">
                <a:solidFill>
                  <a:srgbClr val="1C1C2E"/>
                </a:solidFill>
                <a:latin typeface="Calibri"/>
              </a:rPr>
              <a:t>/Seller</a:t>
            </a:r>
            <a:endParaRPr lang="cs-CZ" sz="13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Hierarchické oprávnění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Přiřazení k eventům/stánkům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3886200"/>
            <a:ext cx="3657600" cy="457200"/>
          </a:xfrm>
          <a:prstGeom prst="rect">
            <a:avLst/>
          </a:prstGeom>
          <a:solidFill>
            <a:srgbClr val="8E44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8220456" y="3937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1" noProof="0" dirty="0">
                <a:solidFill>
                  <a:srgbClr val="FFFFFF"/>
                </a:solidFill>
                <a:latin typeface="Calibri"/>
              </a:rPr>
              <a:t>🖨️  USB čtečka karet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4343400"/>
            <a:ext cx="36576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TextBox 29"/>
          <p:cNvSpPr txBox="1"/>
          <p:nvPr/>
        </p:nvSpPr>
        <p:spPr>
          <a:xfrm>
            <a:off x="8266176" y="443484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Web </a:t>
            </a:r>
            <a:r>
              <a:rPr lang="cs-CZ" sz="1300" noProof="0" dirty="0" err="1">
                <a:solidFill>
                  <a:srgbClr val="1C1C2E"/>
                </a:solidFill>
                <a:latin typeface="Calibri"/>
              </a:rPr>
              <a:t>Serial</a:t>
            </a: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 API (nativní)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Přímá komunikace s čtečkou</a:t>
            </a:r>
          </a:p>
          <a:p>
            <a:pPr>
              <a:spcBef>
                <a:spcPts val="400"/>
              </a:spcBef>
            </a:pP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300" noProof="0" dirty="0" err="1">
                <a:solidFill>
                  <a:srgbClr val="1C1C2E"/>
                </a:solidFill>
                <a:latin typeface="Calibri"/>
              </a:rPr>
              <a:t>Plug</a:t>
            </a:r>
            <a:r>
              <a:rPr lang="cs-CZ" sz="1300" noProof="0" dirty="0">
                <a:solidFill>
                  <a:srgbClr val="1C1C2E"/>
                </a:solidFill>
                <a:latin typeface="Calibri"/>
              </a:rPr>
              <a:t>-and-play integrace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Uživatelské rozhraní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Různá rozhraní pro různé role zaměstnanců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1468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Pokladní (</a:t>
            </a:r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Cashier</a:t>
            </a:r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3832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en-US" sz="1400" noProof="0" dirty="0" err="1">
                <a:solidFill>
                  <a:srgbClr val="1C1C2E"/>
                </a:solidFill>
                <a:latin typeface="Calibri"/>
              </a:rPr>
              <a:t>Vytvo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ření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nebo vyhledání zákazníka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Načtení RFID karty přes čtečku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Nastavení kreditu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Zobrazení zůstatku a historie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417320"/>
            <a:ext cx="3657600" cy="4572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07408" y="1468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Prodejce (</a:t>
            </a:r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Seller</a:t>
            </a:r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7452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4453128" y="19659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Přiložení karty → načtení zákazníka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Výběr produktů z katalogu stánku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Potvrzení objednávky → odečet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Možnost stornovat do 5 minut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74736" y="1417320"/>
            <a:ext cx="3657600" cy="4572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8311896" y="1468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Manager / 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74736" y="187452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357616" y="1965960"/>
            <a:ext cx="338328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Správa zaměstnanců, akcí, stánků, produktů, kategorií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Přiřazování zaměstnanců k rolím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Statistiky a přehled tržeb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Undo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/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redo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, klonování, obnova smazaných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Testování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Komplexní testovací pokrytí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59" y="1417320"/>
            <a:ext cx="11384279" cy="45720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19" y="1468120"/>
            <a:ext cx="111081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🧪  </a:t>
            </a:r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Backend</a:t>
            </a:r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 testy (</a:t>
            </a:r>
            <a:r>
              <a:rPr lang="cs-CZ" sz="2000" b="1" noProof="0" dirty="0" err="1">
                <a:solidFill>
                  <a:srgbClr val="FFFFFF"/>
                </a:solidFill>
                <a:latin typeface="Calibri"/>
              </a:rPr>
              <a:t>pytest</a:t>
            </a:r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74520"/>
            <a:ext cx="11384280" cy="4480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11062398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20+ testovacích modulů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Unit testy jednotlivých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endpointů</a:t>
            </a:r>
            <a:endParaRPr lang="cs-CZ" sz="14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Integrační testy přes reálnou DB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Testy souběžného přístupu (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concurrency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Testy CRUD operací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Testy finančních operací (platby, vrácení)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Testy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undo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/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redo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a paste/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clone</a:t>
            </a:r>
            <a:endParaRPr lang="cs-CZ" sz="1400" noProof="0" dirty="0">
              <a:solidFill>
                <a:srgbClr val="1C1C2E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pytest-cov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pro měření pokrytí kódu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3000" b="1" noProof="0" dirty="0">
                <a:solidFill>
                  <a:srgbClr val="FFFFFF"/>
                </a:solidFill>
                <a:latin typeface="Calibri"/>
              </a:rPr>
              <a:t>Závěr a přínos práce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1600" b="0" noProof="0" dirty="0">
                <a:solidFill>
                  <a:srgbClr val="A8C4E8"/>
                </a:solidFill>
                <a:latin typeface="Calibri"/>
              </a:rPr>
              <a:t>Co bylo dosaženo a jaký je přínos projektu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50800"/>
          </a:xfrm>
          <a:prstGeom prst="rect">
            <a:avLst/>
          </a:prstGeom>
          <a:solidFill>
            <a:srgbClr val="1D6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9" name="Rectangle 18"/>
          <p:cNvSpPr/>
          <p:nvPr/>
        </p:nvSpPr>
        <p:spPr>
          <a:xfrm>
            <a:off x="365760" y="1546860"/>
            <a:ext cx="11430000" cy="457200"/>
          </a:xfrm>
          <a:prstGeom prst="rect">
            <a:avLst/>
          </a:prstGeom>
          <a:solidFill>
            <a:srgbClr val="1A9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02920" y="15976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cs-CZ" sz="2000" b="1" noProof="0" dirty="0">
                <a:solidFill>
                  <a:srgbClr val="FFFFFF"/>
                </a:solidFill>
                <a:latin typeface="Calibri"/>
              </a:rPr>
              <a:t>✅  Splněné cíle a přínosy práce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04060"/>
            <a:ext cx="11430000" cy="3619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502920" y="2105660"/>
            <a:ext cx="1115568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Funkční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cashless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platební systém připravený pro produkční nasazení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Bezpečné ACID transakce s plným audit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trailem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– žádná ztráta dat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Flexibilní správa eventů: klonování,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undo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/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redo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, soft-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delete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s obnovou</a:t>
            </a:r>
          </a:p>
          <a:p>
            <a:pPr>
              <a:spcBef>
                <a:spcPts val="400"/>
              </a:spcBef>
            </a:pP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•  Použití Web </a:t>
            </a:r>
            <a:r>
              <a:rPr lang="cs-CZ" sz="1400" noProof="0" dirty="0" err="1">
                <a:solidFill>
                  <a:srgbClr val="1C1C2E"/>
                </a:solidFill>
                <a:latin typeface="Calibri"/>
              </a:rPr>
              <a:t>Serial</a:t>
            </a:r>
            <a:r>
              <a:rPr lang="cs-CZ" sz="1400" noProof="0" dirty="0">
                <a:solidFill>
                  <a:srgbClr val="1C1C2E"/>
                </a:solidFill>
                <a:latin typeface="Calibri"/>
              </a:rPr>
              <a:t> API pro integraci fyzické RFID čtečky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760</Words>
  <Application>Microsoft Office PowerPoint</Application>
  <PresentationFormat>Vlastní</PresentationFormat>
  <Paragraphs>136</Paragraphs>
  <Slides>9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Muijsenberg</cp:lastModifiedBy>
  <cp:revision>3</cp:revision>
  <dcterms:created xsi:type="dcterms:W3CDTF">2013-01-27T09:14:16Z</dcterms:created>
  <dcterms:modified xsi:type="dcterms:W3CDTF">2026-05-12T16:51:33Z</dcterms:modified>
  <cp:category/>
</cp:coreProperties>
</file>